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5" r:id="rId4"/>
    <p:sldId id="264" r:id="rId5"/>
    <p:sldId id="267" r:id="rId6"/>
    <p:sldId id="268" r:id="rId7"/>
    <p:sldId id="266" r:id="rId8"/>
    <p:sldId id="257" r:id="rId9"/>
    <p:sldId id="263" r:id="rId10"/>
    <p:sldId id="262" r:id="rId11"/>
    <p:sldId id="259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4" roundtripDataSignature="AMtx7mgQWvp9kEA1/urQXad0qJL2M8Ok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153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5987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85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318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173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8363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234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899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0073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355550" y="1657800"/>
            <a:ext cx="9480900" cy="3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chemeClr val="accent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TP555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chemeClr val="accent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Inteligência Artificial e </a:t>
            </a:r>
            <a:r>
              <a:rPr lang="en-GB" sz="3600" b="1" dirty="0">
                <a:solidFill>
                  <a:schemeClr val="accent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Machine 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5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accent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Prof. Dr. Felipe Augusto Pereira de Figueiredo</a:t>
            </a:r>
            <a:endParaRPr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ctr"/>
            <a:r>
              <a:rPr lang="pt-BR" sz="1800" b="1" dirty="0">
                <a:solidFill>
                  <a:schemeClr val="accent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André Ribeiro Cláudio		Pedro Henrique Vilela</a:t>
            </a:r>
          </a:p>
          <a:p>
            <a:pPr algn="ctr"/>
            <a:r>
              <a:rPr lang="pt-BR" sz="1600" dirty="0">
                <a:solidFill>
                  <a:srgbClr val="3C78D8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andre.ribeiro@inatel.br		pedrov@dtel.inatel.br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3C78D8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Projeto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30633" y="1630633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 err="1">
                <a:latin typeface="+mn-lt"/>
              </a:rPr>
              <a:t>Descrever</a:t>
            </a:r>
            <a:r>
              <a:rPr lang="en-GB" sz="2000" dirty="0">
                <a:latin typeface="+mn-lt"/>
              </a:rPr>
              <a:t> o </a:t>
            </a:r>
            <a:r>
              <a:rPr lang="en-GB" sz="2000" dirty="0" err="1">
                <a:latin typeface="+mn-lt"/>
              </a:rPr>
              <a:t>objetivo</a:t>
            </a:r>
            <a:r>
              <a:rPr lang="en-GB" sz="2000" dirty="0">
                <a:latin typeface="+mn-lt"/>
              </a:rPr>
              <a:t> do </a:t>
            </a:r>
            <a:r>
              <a:rPr lang="en-GB" sz="2000" dirty="0" err="1">
                <a:latin typeface="+mn-lt"/>
              </a:rPr>
              <a:t>uso</a:t>
            </a:r>
            <a:r>
              <a:rPr lang="en-GB" sz="2000" dirty="0">
                <a:latin typeface="+mn-lt"/>
              </a:rPr>
              <a:t> de IA para resolver o </a:t>
            </a:r>
            <a:r>
              <a:rPr lang="en-GB" sz="2000" dirty="0" err="1">
                <a:latin typeface="+mn-lt"/>
              </a:rPr>
              <a:t>problema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em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questão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500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Motivação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20000" y="1620000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 err="1">
                <a:latin typeface="+mn-lt"/>
              </a:rPr>
              <a:t>Descrever</a:t>
            </a:r>
            <a:r>
              <a:rPr lang="en-GB" sz="2000" dirty="0">
                <a:latin typeface="+mn-lt"/>
              </a:rPr>
              <a:t> o </a:t>
            </a:r>
            <a:r>
              <a:rPr lang="en-GB" sz="2000" dirty="0" err="1">
                <a:latin typeface="+mn-lt"/>
              </a:rPr>
              <a:t>objetivo</a:t>
            </a:r>
            <a:r>
              <a:rPr lang="en-GB" sz="2000" dirty="0">
                <a:latin typeface="+mn-lt"/>
              </a:rPr>
              <a:t> do </a:t>
            </a:r>
            <a:r>
              <a:rPr lang="en-GB" sz="2000" dirty="0" err="1">
                <a:latin typeface="+mn-lt"/>
              </a:rPr>
              <a:t>uso</a:t>
            </a:r>
            <a:r>
              <a:rPr lang="en-GB" sz="2000" dirty="0">
                <a:latin typeface="+mn-lt"/>
              </a:rPr>
              <a:t> de IA para resolver o </a:t>
            </a:r>
            <a:r>
              <a:rPr lang="en-GB" sz="2000" dirty="0" err="1">
                <a:latin typeface="+mn-lt"/>
              </a:rPr>
              <a:t>problema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em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questão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853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Tecnologias empregadas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20000" y="1620000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>
                <a:latin typeface="+mn-lt"/>
              </a:rPr>
              <a:t>Automatically detect and predict patients with Parkinson disease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OpenCV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/>
              <a:t>HOG</a:t>
            </a:r>
            <a:endParaRPr lang="en-GB" sz="2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83524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OpenCV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20000" y="1620000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>
                <a:latin typeface="+mn-lt"/>
              </a:rPr>
              <a:t>Automatically detect and predict patients with Parkinson disease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OpenCV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/>
              <a:t>HOG</a:t>
            </a:r>
            <a:endParaRPr lang="en-GB" sz="2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84010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HOG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20000" y="1620000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>
                <a:latin typeface="+mn-lt"/>
              </a:rPr>
              <a:t>Automatically detect and predict patients with Parkinson disease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 err="1">
                <a:latin typeface="+mn-lt"/>
              </a:rPr>
              <a:t>Ajuste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tamanho</a:t>
            </a:r>
            <a:endParaRPr lang="en-GB" sz="2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 err="1">
                <a:latin typeface="+mn-lt"/>
              </a:rPr>
              <a:t>Trata</a:t>
            </a:r>
            <a:r>
              <a:rPr lang="en-GB" sz="2000" dirty="0">
                <a:latin typeface="+mn-lt"/>
              </a:rPr>
              <a:t> </a:t>
            </a:r>
            <a:r>
              <a:rPr lang="en-GB" sz="2000" dirty="0" err="1">
                <a:latin typeface="+mn-lt"/>
              </a:rPr>
              <a:t>nao</a:t>
            </a:r>
            <a:r>
              <a:rPr lang="en-GB" sz="2000" dirty="0">
                <a:latin typeface="+mn-lt"/>
              </a:rPr>
              <a:t> sei o </a:t>
            </a:r>
            <a:r>
              <a:rPr lang="en-GB" sz="2000" dirty="0" err="1">
                <a:latin typeface="+mn-lt"/>
              </a:rPr>
              <a:t>quer</a:t>
            </a:r>
            <a:endParaRPr lang="en-GB" sz="2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Remove </a:t>
            </a:r>
            <a:r>
              <a:rPr lang="en-GB" sz="2000" dirty="0" err="1">
                <a:latin typeface="+mn-lt"/>
              </a:rPr>
              <a:t>baCKGROUND</a:t>
            </a:r>
            <a:endParaRPr lang="en-GB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114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Random Forest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5944BB7-4AC6-154C-8E4A-39224012F3E1}"/>
              </a:ext>
            </a:extLst>
          </p:cNvPr>
          <p:cNvSpPr txBox="1">
            <a:spLocks/>
          </p:cNvSpPr>
          <p:nvPr/>
        </p:nvSpPr>
        <p:spPr>
          <a:xfrm>
            <a:off x="720000" y="1620000"/>
            <a:ext cx="10800000" cy="3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GB" sz="2000" dirty="0">
                <a:latin typeface="+mn-lt"/>
              </a:rPr>
              <a:t>Automatically detect and predict patients with Parkinson disease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 err="1">
                <a:latin typeface="+mn-lt"/>
              </a:rPr>
              <a:t>Métricas</a:t>
            </a:r>
            <a:endParaRPr lang="en-GB" sz="2000" dirty="0">
              <a:latin typeface="+mn-lt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Accuracy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600" dirty="0" err="1">
                <a:latin typeface="+mn-lt"/>
              </a:rPr>
              <a:t>Especificidade</a:t>
            </a:r>
            <a:endParaRPr lang="en-GB" sz="1600" dirty="0">
              <a:latin typeface="+mn-lt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GB" sz="1600" dirty="0" err="1">
                <a:latin typeface="+mn-lt"/>
              </a:rPr>
              <a:t>sensibilidade</a:t>
            </a:r>
            <a:endParaRPr lang="en-GB" sz="16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181185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697674" y="1997774"/>
            <a:ext cx="2918697" cy="286245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5"/>
                </a:solidFill>
              </a:rPr>
              <a:t>Image processing</a:t>
            </a:r>
          </a:p>
        </p:txBody>
      </p:sp>
      <p:sp>
        <p:nvSpPr>
          <p:cNvPr id="92" name="Google Shape;92;p4"/>
          <p:cNvSpPr/>
          <p:nvPr/>
        </p:nvSpPr>
        <p:spPr>
          <a:xfrm>
            <a:off x="4636651" y="1997774"/>
            <a:ext cx="2918700" cy="2862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5"/>
                </a:solidFill>
              </a:rPr>
              <a:t>Machine Learning</a:t>
            </a:r>
          </a:p>
        </p:txBody>
      </p:sp>
      <p:sp>
        <p:nvSpPr>
          <p:cNvPr id="93" name="Google Shape;93;p4"/>
          <p:cNvSpPr/>
          <p:nvPr/>
        </p:nvSpPr>
        <p:spPr>
          <a:xfrm>
            <a:off x="8575629" y="1997774"/>
            <a:ext cx="2918700" cy="2862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5"/>
                </a:solidFill>
              </a:rPr>
              <a:t>Image presentation</a:t>
            </a:r>
          </a:p>
        </p:txBody>
      </p:sp>
      <p:grpSp>
        <p:nvGrpSpPr>
          <p:cNvPr id="94" name="Google Shape;94;p4"/>
          <p:cNvGrpSpPr/>
          <p:nvPr/>
        </p:nvGrpSpPr>
        <p:grpSpPr>
          <a:xfrm>
            <a:off x="1158925" y="3642475"/>
            <a:ext cx="1996200" cy="583800"/>
            <a:chOff x="1211275" y="3642475"/>
            <a:chExt cx="1996200" cy="583800"/>
          </a:xfrm>
        </p:grpSpPr>
        <p:sp>
          <p:nvSpPr>
            <p:cNvPr id="95" name="Google Shape;95;p4"/>
            <p:cNvSpPr/>
            <p:nvPr/>
          </p:nvSpPr>
          <p:spPr>
            <a:xfrm>
              <a:off x="1211275" y="3642475"/>
              <a:ext cx="592500" cy="583800"/>
            </a:xfrm>
            <a:prstGeom prst="rect">
              <a:avLst/>
            </a:prstGeom>
            <a:solidFill>
              <a:srgbClr val="FCE5C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dirty="0"/>
                <a:t>HOG</a:t>
              </a:r>
              <a:endParaRPr dirty="0"/>
            </a:p>
          </p:txBody>
        </p:sp>
        <p:cxnSp>
          <p:nvCxnSpPr>
            <p:cNvPr id="96" name="Google Shape;96;p4"/>
            <p:cNvCxnSpPr>
              <a:stCxn id="95" idx="3"/>
            </p:cNvCxnSpPr>
            <p:nvPr/>
          </p:nvCxnSpPr>
          <p:spPr>
            <a:xfrm>
              <a:off x="1803775" y="3934375"/>
              <a:ext cx="383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7" name="Google Shape;97;p4"/>
            <p:cNvSpPr/>
            <p:nvPr/>
          </p:nvSpPr>
          <p:spPr>
            <a:xfrm>
              <a:off x="2187175" y="3642475"/>
              <a:ext cx="1020300" cy="583800"/>
            </a:xfrm>
            <a:prstGeom prst="rect">
              <a:avLst/>
            </a:prstGeom>
            <a:solidFill>
              <a:srgbClr val="FCE5C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/>
                <a:t>Image Treatment</a:t>
              </a:r>
            </a:p>
          </p:txBody>
        </p:sp>
      </p:grpSp>
      <p:cxnSp>
        <p:nvCxnSpPr>
          <p:cNvPr id="98" name="Google Shape;98;p4"/>
          <p:cNvCxnSpPr>
            <a:stCxn id="91" idx="3"/>
            <a:endCxn id="92" idx="1"/>
          </p:cNvCxnSpPr>
          <p:nvPr/>
        </p:nvCxnSpPr>
        <p:spPr>
          <a:xfrm>
            <a:off x="3616371" y="3429000"/>
            <a:ext cx="1020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99;p4"/>
          <p:cNvCxnSpPr>
            <a:stCxn id="92" idx="3"/>
            <a:endCxn id="93" idx="1"/>
          </p:cNvCxnSpPr>
          <p:nvPr/>
        </p:nvCxnSpPr>
        <p:spPr>
          <a:xfrm>
            <a:off x="7555351" y="3429074"/>
            <a:ext cx="1020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01" name="Google Shape;101;p4"/>
          <p:cNvGrpSpPr/>
          <p:nvPr/>
        </p:nvGrpSpPr>
        <p:grpSpPr>
          <a:xfrm>
            <a:off x="4901525" y="3642475"/>
            <a:ext cx="2388950" cy="583800"/>
            <a:chOff x="4972200" y="3642475"/>
            <a:chExt cx="2388950" cy="583800"/>
          </a:xfrm>
        </p:grpSpPr>
        <p:sp>
          <p:nvSpPr>
            <p:cNvPr id="102" name="Google Shape;102;p4"/>
            <p:cNvSpPr/>
            <p:nvPr/>
          </p:nvSpPr>
          <p:spPr>
            <a:xfrm>
              <a:off x="4972200" y="3642475"/>
              <a:ext cx="932400" cy="583800"/>
            </a:xfrm>
            <a:prstGeom prst="rect">
              <a:avLst/>
            </a:prstGeom>
            <a:solidFill>
              <a:srgbClr val="D9EAD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/>
                <a:t>Random Forest Classifier</a:t>
              </a:r>
            </a:p>
          </p:txBody>
        </p:sp>
        <p:cxnSp>
          <p:nvCxnSpPr>
            <p:cNvPr id="103" name="Google Shape;103;p4"/>
            <p:cNvCxnSpPr/>
            <p:nvPr/>
          </p:nvCxnSpPr>
          <p:spPr>
            <a:xfrm>
              <a:off x="5902250" y="3934375"/>
              <a:ext cx="383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cxnSp>
        <p:sp>
          <p:nvSpPr>
            <p:cNvPr id="104" name="Google Shape;104;p4"/>
            <p:cNvSpPr/>
            <p:nvPr/>
          </p:nvSpPr>
          <p:spPr>
            <a:xfrm>
              <a:off x="6285650" y="3642475"/>
              <a:ext cx="1075500" cy="583800"/>
            </a:xfrm>
            <a:prstGeom prst="rect">
              <a:avLst/>
            </a:prstGeom>
            <a:solidFill>
              <a:srgbClr val="D9EAD3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Prediction</a:t>
              </a:r>
            </a:p>
          </p:txBody>
        </p:sp>
      </p:grpSp>
      <p:grpSp>
        <p:nvGrpSpPr>
          <p:cNvPr id="105" name="Google Shape;105;p4"/>
          <p:cNvGrpSpPr/>
          <p:nvPr/>
        </p:nvGrpSpPr>
        <p:grpSpPr>
          <a:xfrm>
            <a:off x="8845828" y="3642475"/>
            <a:ext cx="2378285" cy="583800"/>
            <a:chOff x="8801890" y="3642475"/>
            <a:chExt cx="2378285" cy="583800"/>
          </a:xfrm>
        </p:grpSpPr>
        <p:sp>
          <p:nvSpPr>
            <p:cNvPr id="106" name="Google Shape;106;p4"/>
            <p:cNvSpPr/>
            <p:nvPr/>
          </p:nvSpPr>
          <p:spPr>
            <a:xfrm>
              <a:off x="8801890" y="3642475"/>
              <a:ext cx="891900" cy="583800"/>
            </a:xfrm>
            <a:prstGeom prst="rect">
              <a:avLst/>
            </a:prstGeom>
            <a:solidFill>
              <a:srgbClr val="D9D2E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/>
                <a:t>Labelling</a:t>
              </a:r>
            </a:p>
          </p:txBody>
        </p:sp>
        <p:cxnSp>
          <p:nvCxnSpPr>
            <p:cNvPr id="107" name="Google Shape;107;p4"/>
            <p:cNvCxnSpPr>
              <a:stCxn id="106" idx="3"/>
            </p:cNvCxnSpPr>
            <p:nvPr/>
          </p:nvCxnSpPr>
          <p:spPr>
            <a:xfrm>
              <a:off x="9693790" y="3934375"/>
              <a:ext cx="36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cxnSp>
        <p:sp>
          <p:nvSpPr>
            <p:cNvPr id="108" name="Google Shape;108;p4"/>
            <p:cNvSpPr/>
            <p:nvPr/>
          </p:nvSpPr>
          <p:spPr>
            <a:xfrm>
              <a:off x="10060875" y="3642475"/>
              <a:ext cx="1119300" cy="583800"/>
            </a:xfrm>
            <a:prstGeom prst="rect">
              <a:avLst/>
            </a:prstGeom>
            <a:solidFill>
              <a:srgbClr val="D9D2E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/>
                <a:t>Presentation</a:t>
              </a: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C7773652-BCBE-CE4B-88D0-A3C24D53E94C}"/>
              </a:ext>
            </a:extLst>
          </p:cNvPr>
          <p:cNvSpPr txBox="1">
            <a:spLocks noChangeAspect="1"/>
          </p:cNvSpPr>
          <p:nvPr/>
        </p:nvSpPr>
        <p:spPr>
          <a:xfrm>
            <a:off x="6948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4000" b="1" dirty="0">
                <a:solidFill>
                  <a:schemeClr val="accent5"/>
                </a:solidFill>
                <a:latin typeface="+mn-lt"/>
              </a:rPr>
              <a:t>Project Diagram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2A6820-32FC-BF4B-B6E1-F2AFACFB5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2064" y="2057400"/>
            <a:ext cx="4853933" cy="3811588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sz="1800" dirty="0">
                <a:latin typeface="+mn-lt"/>
              </a:rPr>
              <a:t>Composed by 204 images</a:t>
            </a:r>
          </a:p>
          <a:p>
            <a:endParaRPr lang="en-GB" dirty="0">
              <a:latin typeface="+mn-lt"/>
            </a:endParaRPr>
          </a:p>
          <a:p>
            <a:pPr marL="228600" indent="0"/>
            <a:r>
              <a:rPr lang="en-GB" b="1" dirty="0">
                <a:latin typeface="+mn-lt"/>
              </a:rPr>
              <a:t>Spiral</a:t>
            </a:r>
            <a:r>
              <a:rPr lang="en-GB" dirty="0">
                <a:latin typeface="+mn-lt"/>
              </a:rPr>
              <a:t>: 102 images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72 training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30 testing</a:t>
            </a:r>
          </a:p>
          <a:p>
            <a:pPr marL="228600" indent="0"/>
            <a:endParaRPr lang="en-GB" dirty="0">
              <a:latin typeface="+mn-lt"/>
            </a:endParaRPr>
          </a:p>
          <a:p>
            <a:pPr marL="228600" indent="0"/>
            <a:r>
              <a:rPr lang="en-GB" b="1" dirty="0">
                <a:latin typeface="+mn-lt"/>
              </a:rPr>
              <a:t>Wave</a:t>
            </a:r>
            <a:r>
              <a:rPr lang="en-GB" dirty="0">
                <a:latin typeface="+mn-lt"/>
              </a:rPr>
              <a:t>: 102 images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72 training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30 testing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>
                <a:solidFill>
                  <a:schemeClr val="accent5"/>
                </a:solidFill>
                <a:latin typeface="+mn-lt"/>
              </a:rPr>
              <a:t>Dataset</a:t>
            </a:r>
            <a:endParaRPr lang="en-BR" sz="4000" b="1" dirty="0">
              <a:solidFill>
                <a:schemeClr val="accent5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E6376-4982-E54A-8934-DA2B8815B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597" y="2163194"/>
            <a:ext cx="6067416" cy="3600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4BBBF5-98BC-F641-9593-1A19EEE0D7E8}"/>
              </a:ext>
            </a:extLst>
          </p:cNvPr>
          <p:cNvCxnSpPr>
            <a:cxnSpLocks/>
          </p:cNvCxnSpPr>
          <p:nvPr/>
        </p:nvCxnSpPr>
        <p:spPr>
          <a:xfrm>
            <a:off x="5016497" y="2075000"/>
            <a:ext cx="12700" cy="3793988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F3AFFF-E302-9749-83D7-9B15D1BA6C2C}"/>
              </a:ext>
            </a:extLst>
          </p:cNvPr>
          <p:cNvSpPr txBox="1"/>
          <p:nvPr/>
        </p:nvSpPr>
        <p:spPr>
          <a:xfrm>
            <a:off x="8636523" y="5868988"/>
            <a:ext cx="28664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Ref:  NIATS of Federal University of </a:t>
            </a:r>
            <a:r>
              <a:rPr lang="pt-BR" sz="1000" dirty="0"/>
              <a:t>Uberlândia</a:t>
            </a:r>
          </a:p>
        </p:txBody>
      </p:sp>
    </p:spTree>
    <p:extLst>
      <p:ext uri="{BB962C8B-B14F-4D97-AF65-F5344CB8AC3E}">
        <p14:creationId xmlns:p14="http://schemas.microsoft.com/office/powerpoint/2010/main" val="3087774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2ACBCB4-6ACD-2841-B1F7-79E2D8C643D1}"/>
              </a:ext>
            </a:extLst>
          </p:cNvPr>
          <p:cNvSpPr txBox="1">
            <a:spLocks noChangeAspect="1"/>
          </p:cNvSpPr>
          <p:nvPr/>
        </p:nvSpPr>
        <p:spPr>
          <a:xfrm>
            <a:off x="696000" y="5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BR" sz="4000" b="1" dirty="0">
                <a:solidFill>
                  <a:schemeClr val="accent5"/>
                </a:solidFill>
                <a:latin typeface="+mn-lt"/>
              </a:rPr>
              <a:t>Drawing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DCEAA4-5671-8D46-918C-7939D11C5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161" y="1629000"/>
            <a:ext cx="870967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5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D8BB6-E778-404E-ACD1-F5444153A40F}"/>
              </a:ext>
            </a:extLst>
          </p:cNvPr>
          <p:cNvSpPr txBox="1">
            <a:spLocks/>
          </p:cNvSpPr>
          <p:nvPr/>
        </p:nvSpPr>
        <p:spPr>
          <a:xfrm>
            <a:off x="1056000" y="234900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BR" b="1" dirty="0">
                <a:solidFill>
                  <a:srgbClr val="006A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2944371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178</Words>
  <Application>Microsoft Macintosh PowerPoint</Application>
  <PresentationFormat>Widescreen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Lais Aparecida Dias</dc:creator>
  <cp:lastModifiedBy>Pedro Vilela</cp:lastModifiedBy>
  <cp:revision>33</cp:revision>
  <dcterms:created xsi:type="dcterms:W3CDTF">2016-10-18T13:17:06Z</dcterms:created>
  <dcterms:modified xsi:type="dcterms:W3CDTF">2020-06-18T23:37:58Z</dcterms:modified>
</cp:coreProperties>
</file>