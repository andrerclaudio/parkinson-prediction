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_rels/presentation.xml.rels" ContentType="application/vnd.openxmlformats-package.relationships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_rels/slideLayout22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0.xml.rels" ContentType="application/vnd.openxmlformats-package.relationships+xml"/>
  <Override PartName="/ppt/slideLayouts/slideLayout6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2.xml" ContentType="application/vnd.openxmlformats-officedocument.presentationml.slideLayout+xml"/>
  <Override PartName="/ppt/media/image14.png" ContentType="image/png"/>
  <Override PartName="/ppt/media/image9.png" ContentType="image/png"/>
  <Override PartName="/ppt/media/image1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1.tif" ContentType="image/tiff"/>
  <Override PartName="/ppt/media/image13.tif" ContentType="image/tiff"/>
  <Override PartName="/ppt/media/image2.png" ContentType="image/png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</p:presentation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latin typeface="Arial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pPr algn="ctr"/>
            <a:endParaRPr b="0" lang="pt-BR" sz="3200" spc="-1" strike="noStrike">
              <a:latin typeface="Arial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lIns="0" rIns="0" tIns="0" bIns="0" anchor="ctr">
            <a:no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endParaRPr b="0" lang="pt-BR" sz="1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</p:spPr>
        <p:txBody>
          <a:bodyPr anchor="b">
            <a:normAutofit/>
          </a:bodyPr>
          <a:p>
            <a:pPr algn="ctr"/>
            <a:r>
              <a:rPr b="0" lang="pt-BR" sz="60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6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pt-BR" sz="2400" spc="-1" strike="noStrike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pt-BR" sz="2400" spc="-1" strike="noStrike"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8BA222B9-389C-4C35-8AB5-EBB1F9B85B9D}" type="slidenum">
              <a:rPr b="0" lang="pt-BR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pt-BR" sz="1200" spc="-1" strike="noStrike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rIns="0" tIns="0" bIns="0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</p:spPr>
        <p:txBody>
          <a:bodyPr anchor="b">
            <a:normAutofit/>
          </a:bodyPr>
          <a:p>
            <a:pPr algn="ctr"/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</p:spPr>
        <p:txBody>
          <a:bodyPr>
            <a:normAutofit/>
          </a:bodyPr>
          <a:p>
            <a:pPr marL="432000" indent="-324000" algn="ctr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algn="ctr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 algn="ctr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 algn="ctr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 algn="ctr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 algn="ctr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 algn="ctr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32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</p:spPr>
        <p:txBody>
          <a:bodyPr>
            <a:normAutofit/>
          </a:bodyPr>
          <a:p>
            <a:pPr marL="432000" indent="-324000" algn="ctr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 algn="ctr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 algn="ctr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 algn="ctr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 algn="ctr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 algn="ctr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 algn="ctr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pt-BR" sz="16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pt-BR" sz="2400" spc="-1" strike="noStrike"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</p:spPr>
        <p:txBody>
          <a:bodyPr anchor="ctr">
            <a:noAutofit/>
          </a:bodyPr>
          <a:p>
            <a:endParaRPr b="0" lang="pt-BR" sz="2400" spc="-1" strike="noStrike"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</p:spPr>
        <p:txBody>
          <a:bodyPr anchor="ctr">
            <a:noAutofit/>
          </a:bodyPr>
          <a:p>
            <a:pPr algn="r">
              <a:lnSpc>
                <a:spcPct val="100000"/>
              </a:lnSpc>
            </a:pPr>
            <a:fld id="{7A51E482-0C1E-4C77-A2CC-28120C16F21B}" type="slidenum">
              <a:rPr b="0" lang="pt-BR" sz="1200" spc="-1" strike="noStrike">
                <a:solidFill>
                  <a:srgbClr val="888888"/>
                </a:solidFill>
                <a:latin typeface="Calibri"/>
                <a:ea typeface="Calibri"/>
              </a:rPr>
              <a:t>&lt;number&gt;</a:t>
            </a:fld>
            <a:endParaRPr b="0" lang="pt-BR" sz="12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1.tif"/><Relationship Id="rId2" Type="http://schemas.openxmlformats.org/officeDocument/2006/relationships/slideLayout" Target="../slideLayouts/slideLayout1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tif"/><Relationship Id="rId3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3" name="Google Shape;84;p1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84" name="CustomShape 1"/>
          <p:cNvSpPr/>
          <p:nvPr/>
        </p:nvSpPr>
        <p:spPr>
          <a:xfrm>
            <a:off x="1355400" y="1657800"/>
            <a:ext cx="9480600" cy="35420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 algn="ctr">
              <a:lnSpc>
                <a:spcPct val="100000"/>
              </a:lnSpc>
            </a:pPr>
            <a:r>
              <a:rPr b="1" lang="pt-BR" sz="3600" spc="-1" strike="noStrike">
                <a:solidFill>
                  <a:srgbClr val="4472c4"/>
                </a:solidFill>
                <a:latin typeface="Arial"/>
                <a:ea typeface="Calibri"/>
              </a:rPr>
              <a:t>TP555 </a:t>
            </a:r>
            <a:endParaRPr b="0" lang="pt-BR" sz="36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pt-BR" sz="3600" spc="-1" strike="noStrike">
                <a:solidFill>
                  <a:srgbClr val="4472c4"/>
                </a:solidFill>
                <a:latin typeface="Arial"/>
                <a:ea typeface="Calibri"/>
              </a:rPr>
              <a:t>Inteligência Artificial e </a:t>
            </a:r>
            <a:r>
              <a:rPr b="1" lang="en-GB" sz="3600" spc="-1" strike="noStrike">
                <a:solidFill>
                  <a:srgbClr val="4472c4"/>
                </a:solidFill>
                <a:latin typeface="Arial"/>
                <a:ea typeface="Calibri"/>
              </a:rPr>
              <a:t>Machine Learning</a:t>
            </a:r>
            <a:endParaRPr b="0" lang="pt-BR" sz="3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3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3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36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4472c4"/>
                </a:solidFill>
                <a:latin typeface="Arial"/>
                <a:ea typeface="Calibri"/>
              </a:rPr>
              <a:t>Prof. Dr. Felipe Augusto Pereira de Figueiredo</a:t>
            </a:r>
            <a:endParaRPr b="0" lang="pt-B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1" lang="pt-BR" sz="1800" spc="-1" strike="noStrike">
                <a:solidFill>
                  <a:srgbClr val="4472c4"/>
                </a:solidFill>
                <a:latin typeface="Arial"/>
                <a:ea typeface="Calibri"/>
              </a:rPr>
              <a:t>André Ribeiro Cláudio</a:t>
            </a:r>
            <a:r>
              <a:rPr b="1" lang="pt-BR" sz="1800" spc="-1" strike="noStrike">
                <a:solidFill>
                  <a:srgbClr val="4472c4"/>
                </a:solidFill>
                <a:latin typeface="Arial"/>
                <a:ea typeface="Calibri"/>
              </a:rPr>
              <a:t>	</a:t>
            </a:r>
            <a:r>
              <a:rPr b="1" lang="pt-BR" sz="1800" spc="-1" strike="noStrike">
                <a:solidFill>
                  <a:srgbClr val="4472c4"/>
                </a:solidFill>
                <a:latin typeface="Arial"/>
                <a:ea typeface="Calibri"/>
              </a:rPr>
              <a:t>	</a:t>
            </a:r>
            <a:r>
              <a:rPr b="1" lang="pt-BR" sz="1800" spc="-1" strike="noStrike">
                <a:solidFill>
                  <a:srgbClr val="4472c4"/>
                </a:solidFill>
                <a:latin typeface="Arial"/>
                <a:ea typeface="Calibri"/>
              </a:rPr>
              <a:t>Pedro Henrique Vilela</a:t>
            </a:r>
            <a:endParaRPr b="0" lang="pt-BR" sz="1800" spc="-1" strike="noStrike"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pt-BR" sz="1600" spc="-1" strike="noStrike">
                <a:solidFill>
                  <a:srgbClr val="3c78d8"/>
                </a:solidFill>
                <a:latin typeface="Arial"/>
                <a:ea typeface="Calibri"/>
              </a:rPr>
              <a:t>andre.ribeiro@inatel.br</a:t>
            </a:r>
            <a:r>
              <a:rPr b="0" lang="pt-BR" sz="1600" spc="-1" strike="noStrike">
                <a:solidFill>
                  <a:srgbClr val="3c78d8"/>
                </a:solidFill>
                <a:latin typeface="Arial"/>
                <a:ea typeface="Calibri"/>
              </a:rPr>
              <a:t>	</a:t>
            </a:r>
            <a:r>
              <a:rPr b="0" lang="pt-BR" sz="1600" spc="-1" strike="noStrike">
                <a:solidFill>
                  <a:srgbClr val="3c78d8"/>
                </a:solidFill>
                <a:latin typeface="Arial"/>
                <a:ea typeface="Calibri"/>
              </a:rPr>
              <a:t>	</a:t>
            </a:r>
            <a:r>
              <a:rPr b="0" lang="pt-BR" sz="1600" spc="-1" strike="noStrike">
                <a:solidFill>
                  <a:srgbClr val="3c78d8"/>
                </a:solidFill>
                <a:latin typeface="Arial"/>
                <a:ea typeface="Calibri"/>
              </a:rPr>
              <a:t>pedrov@dtel.inatel.br</a:t>
            </a:r>
            <a:endParaRPr b="0" lang="pt-B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600" spc="-1" strike="noStrike">
              <a:latin typeface="Arial"/>
            </a:endParaRPr>
          </a:p>
          <a:p>
            <a:pPr>
              <a:lnSpc>
                <a:spcPct val="100000"/>
              </a:lnSpc>
            </a:pPr>
            <a:endParaRPr b="0" lang="pt-B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86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Projeto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87" name="CustomShape 2"/>
          <p:cNvSpPr/>
          <p:nvPr/>
        </p:nvSpPr>
        <p:spPr>
          <a:xfrm>
            <a:off x="696240" y="16308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>
            <a:normAutofit/>
          </a:bodyPr>
          <a:p>
            <a:pPr marL="457200" algn="just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Inteligência artificial, por se tratar de um processo sistematizado e adaptável, pode mitigar o peso da experiência profissional no primeiro ataque ao diagnóstico do mal de Parkinson, que é o alvo de sua aplicação neste trabalho, evitando uma grande variablidade de diagnósticos, dado a grande dificuldade de indicativos em seu estágio inicial, como será discutido à seguir.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</a:pP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</a:pPr>
            <a:endParaRPr b="0" lang="pt-BR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89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Motivação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90" name="CustomShape 2"/>
          <p:cNvSpPr/>
          <p:nvPr/>
        </p:nvSpPr>
        <p:spPr>
          <a:xfrm>
            <a:off x="720000" y="16200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>
            <a:normAutofit/>
          </a:bodyPr>
          <a:p>
            <a:pPr marL="457200" algn="just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A 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doença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 de Parkison é um mal neurológico progressivo que causa …</a:t>
            </a:r>
            <a:endParaRPr b="0" lang="pt-BR" sz="20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Com a diminuição da dopamina neta área, …., causa tremores, que começam seguindo os estágios abaixo.</a:t>
            </a:r>
            <a:endParaRPr b="0" lang="pt-BR" sz="2000" spc="-1" strike="noStrike">
              <a:latin typeface="Arial"/>
            </a:endParaRPr>
          </a:p>
          <a:p>
            <a:pPr marL="457200" indent="-406080" algn="just">
              <a:lnSpc>
                <a:spcPct val="90000"/>
              </a:lnSpc>
              <a:spcBef>
                <a:spcPts val="1001"/>
              </a:spcBef>
            </a:pPr>
            <a:endParaRPr b="0" lang="pt-BR" sz="2000" spc="-1" strike="noStrike">
              <a:latin typeface="Arial"/>
            </a:endParaRPr>
          </a:p>
          <a:p>
            <a:pPr marL="457200" indent="-406080" algn="just">
              <a:lnSpc>
                <a:spcPct val="90000"/>
              </a:lnSpc>
              <a:spcBef>
                <a:spcPts val="1001"/>
              </a:spcBef>
            </a:pPr>
            <a:endParaRPr b="0" lang="pt-BR" sz="2000" spc="-1" strike="noStrike">
              <a:latin typeface="Arial"/>
            </a:endParaRPr>
          </a:p>
          <a:p>
            <a:pPr marL="457200" algn="just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Quando nos estágios iniciais, pode gerar confusão em sua identificação.</a:t>
            </a:r>
            <a:endParaRPr b="0" lang="pt-BR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92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Tecnologias empregadas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93" name="CustomShape 2"/>
          <p:cNvSpPr/>
          <p:nvPr/>
        </p:nvSpPr>
        <p:spPr>
          <a:xfrm>
            <a:off x="720000" y="16200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>
            <a:normAutofit/>
          </a:bodyPr>
          <a:p>
            <a:pPr marL="457200" indent="-406080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Detecta e prediz automaticamente pacientes com com doença de Parkinson</a:t>
            </a:r>
            <a:endParaRPr b="0" lang="pt-BR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1001"/>
              </a:spcBef>
            </a:pP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OpenCV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HOG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Random Forest</a:t>
            </a:r>
            <a:endParaRPr b="0" lang="pt-BR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0;p4_0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95" name="CustomShape 1"/>
          <p:cNvSpPr/>
          <p:nvPr/>
        </p:nvSpPr>
        <p:spPr>
          <a:xfrm>
            <a:off x="697680" y="1997640"/>
            <a:ext cx="2918160" cy="28620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 algn="ctr">
              <a:lnSpc>
                <a:spcPct val="100000"/>
              </a:lnSpc>
            </a:pPr>
            <a:r>
              <a:rPr b="1" lang="en-GB" sz="1600" spc="-1" strike="noStrike">
                <a:solidFill>
                  <a:srgbClr val="4472c4"/>
                </a:solidFill>
                <a:latin typeface="Arial"/>
                <a:ea typeface="Arial"/>
              </a:rPr>
              <a:t>Image processing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96" name="CustomShape 2"/>
          <p:cNvSpPr/>
          <p:nvPr/>
        </p:nvSpPr>
        <p:spPr>
          <a:xfrm>
            <a:off x="4636800" y="1997640"/>
            <a:ext cx="2918520" cy="286236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 algn="ctr">
              <a:lnSpc>
                <a:spcPct val="100000"/>
              </a:lnSpc>
            </a:pPr>
            <a:r>
              <a:rPr b="1" lang="en-GB" sz="1600" spc="-1" strike="noStrike">
                <a:solidFill>
                  <a:srgbClr val="4472c4"/>
                </a:solidFill>
                <a:latin typeface="Arial"/>
                <a:ea typeface="Arial"/>
              </a:rPr>
              <a:t>Machine Learning</a:t>
            </a:r>
            <a:endParaRPr b="0" lang="pt-BR" sz="1600" spc="-1" strike="noStrike">
              <a:latin typeface="Arial"/>
            </a:endParaRPr>
          </a:p>
        </p:txBody>
      </p:sp>
      <p:sp>
        <p:nvSpPr>
          <p:cNvPr id="97" name="CustomShape 3"/>
          <p:cNvSpPr/>
          <p:nvPr/>
        </p:nvSpPr>
        <p:spPr>
          <a:xfrm>
            <a:off x="8575560" y="1997640"/>
            <a:ext cx="2918520" cy="286236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 w="936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>
            <a:noAutofit/>
          </a:bodyPr>
          <a:p>
            <a:pPr algn="ctr">
              <a:lnSpc>
                <a:spcPct val="100000"/>
              </a:lnSpc>
            </a:pPr>
            <a:r>
              <a:rPr b="1" lang="en-GB" sz="1600" spc="-1" strike="noStrike">
                <a:solidFill>
                  <a:srgbClr val="4472c4"/>
                </a:solidFill>
                <a:latin typeface="Arial"/>
                <a:ea typeface="Arial"/>
              </a:rPr>
              <a:t>Image presentation</a:t>
            </a:r>
            <a:endParaRPr b="0" lang="pt-BR" sz="1600" spc="-1" strike="noStrike">
              <a:latin typeface="Arial"/>
            </a:endParaRPr>
          </a:p>
        </p:txBody>
      </p:sp>
      <p:grpSp>
        <p:nvGrpSpPr>
          <p:cNvPr id="98" name="Group 4"/>
          <p:cNvGrpSpPr/>
          <p:nvPr/>
        </p:nvGrpSpPr>
        <p:grpSpPr>
          <a:xfrm>
            <a:off x="1158840" y="3642480"/>
            <a:ext cx="5057640" cy="583560"/>
            <a:chOff x="1158840" y="3642480"/>
            <a:chExt cx="5057640" cy="583560"/>
          </a:xfrm>
        </p:grpSpPr>
        <p:sp>
          <p:nvSpPr>
            <p:cNvPr id="99" name="CustomShape 5"/>
            <p:cNvSpPr/>
            <p:nvPr/>
          </p:nvSpPr>
          <p:spPr>
            <a:xfrm>
              <a:off x="1158840" y="3642480"/>
              <a:ext cx="592200" cy="583560"/>
            </a:xfrm>
            <a:prstGeom prst="rect">
              <a:avLst/>
            </a:prstGeom>
            <a:solidFill>
              <a:srgbClr val="fce5cd"/>
            </a:solidFill>
            <a:ln w="9360">
              <a:noFill/>
            </a:ln>
            <a:effectLst>
              <a:outerShdw algn="bl" blurRad="57150" dir="5400000" dist="19080" rotWithShape="0">
                <a:srgbClr val="000000">
                  <a:alpha val="5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pt-BR" sz="1400" spc="-1" strike="noStrike">
                  <a:solidFill>
                    <a:srgbClr val="000000"/>
                  </a:solidFill>
                  <a:latin typeface="Arial"/>
                  <a:ea typeface="Arial"/>
                </a:rPr>
                <a:t>HOG</a:t>
              </a:r>
              <a:endParaRPr b="0" lang="pt-BR" sz="1400" spc="-1" strike="noStrike">
                <a:latin typeface="Arial"/>
              </a:endParaRPr>
            </a:p>
          </p:txBody>
        </p:sp>
        <p:sp>
          <p:nvSpPr>
            <p:cNvPr id="100" name="CustomShape 6"/>
            <p:cNvSpPr/>
            <p:nvPr/>
          </p:nvSpPr>
          <p:spPr>
            <a:xfrm>
              <a:off x="1751400" y="3934440"/>
              <a:ext cx="383040" cy="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360">
              <a:solidFill>
                <a:schemeClr val="dk2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  <p:sp>
          <p:nvSpPr>
            <p:cNvPr id="101" name="CustomShape 7"/>
            <p:cNvSpPr/>
            <p:nvPr/>
          </p:nvSpPr>
          <p:spPr>
            <a:xfrm>
              <a:off x="2134800" y="3642480"/>
              <a:ext cx="1019880" cy="583560"/>
            </a:xfrm>
            <a:prstGeom prst="rect">
              <a:avLst/>
            </a:prstGeom>
            <a:solidFill>
              <a:srgbClr val="fce5cd"/>
            </a:solidFill>
            <a:ln w="9360">
              <a:noFill/>
            </a:ln>
            <a:effectLst>
              <a:outerShdw algn="bl" blurRad="57150" dir="5400000" dist="19080" rotWithShape="0">
                <a:srgbClr val="000000">
                  <a:alpha val="5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GB" sz="1100" spc="-1" strike="noStrike">
                  <a:solidFill>
                    <a:srgbClr val="000000"/>
                  </a:solidFill>
                  <a:latin typeface="Arial"/>
                  <a:ea typeface="Arial"/>
                </a:rPr>
                <a:t>Image Treatment</a:t>
              </a:r>
              <a:endParaRPr b="0" lang="pt-BR" sz="1100" spc="-1" strike="noStrike">
                <a:latin typeface="Arial"/>
              </a:endParaRPr>
            </a:p>
          </p:txBody>
        </p:sp>
        <p:sp>
          <p:nvSpPr>
            <p:cNvPr id="102" name="CustomShape 8"/>
            <p:cNvSpPr/>
            <p:nvPr/>
          </p:nvSpPr>
          <p:spPr>
            <a:xfrm>
              <a:off x="5833440" y="3959640"/>
              <a:ext cx="383040" cy="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360">
              <a:solidFill>
                <a:schemeClr val="dk2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03" name="CustomShape 9"/>
          <p:cNvSpPr/>
          <p:nvPr/>
        </p:nvSpPr>
        <p:spPr>
          <a:xfrm>
            <a:off x="3616200" y="3429000"/>
            <a:ext cx="10198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440">
            <a:solidFill>
              <a:schemeClr val="dk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CustomShape 10"/>
          <p:cNvSpPr/>
          <p:nvPr/>
        </p:nvSpPr>
        <p:spPr>
          <a:xfrm>
            <a:off x="7555320" y="3429000"/>
            <a:ext cx="1019880" cy="360"/>
          </a:xfrm>
          <a:custGeom>
            <a:avLst/>
            <a:gdLst/>
            <a:ah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440">
            <a:solidFill>
              <a:schemeClr val="dk2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</p:sp>
      <p:grpSp>
        <p:nvGrpSpPr>
          <p:cNvPr id="105" name="Group 11"/>
          <p:cNvGrpSpPr/>
          <p:nvPr/>
        </p:nvGrpSpPr>
        <p:grpSpPr>
          <a:xfrm>
            <a:off x="4901400" y="3642480"/>
            <a:ext cx="2388960" cy="583560"/>
            <a:chOff x="4901400" y="3642480"/>
            <a:chExt cx="2388960" cy="583560"/>
          </a:xfrm>
        </p:grpSpPr>
        <p:sp>
          <p:nvSpPr>
            <p:cNvPr id="106" name="CustomShape 12"/>
            <p:cNvSpPr/>
            <p:nvPr/>
          </p:nvSpPr>
          <p:spPr>
            <a:xfrm>
              <a:off x="4901400" y="3642480"/>
              <a:ext cx="932040" cy="583560"/>
            </a:xfrm>
            <a:prstGeom prst="rect">
              <a:avLst/>
            </a:prstGeom>
            <a:solidFill>
              <a:srgbClr val="d9ead3"/>
            </a:solidFill>
            <a:ln w="9360">
              <a:noFill/>
            </a:ln>
            <a:effectLst>
              <a:outerShdw algn="bl" blurRad="57150" dir="5400000" dist="19080" rotWithShape="0">
                <a:srgbClr val="000000">
                  <a:alpha val="5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GB" sz="1200" spc="-1" strike="noStrike">
                  <a:solidFill>
                    <a:srgbClr val="000000"/>
                  </a:solidFill>
                  <a:latin typeface="Arial"/>
                  <a:ea typeface="Arial"/>
                </a:rPr>
                <a:t>Random Forest Classifier</a:t>
              </a:r>
              <a:endParaRPr b="0" lang="pt-BR" sz="1200" spc="-1" strike="noStrike">
                <a:latin typeface="Arial"/>
              </a:endParaRPr>
            </a:p>
          </p:txBody>
        </p:sp>
        <p:sp>
          <p:nvSpPr>
            <p:cNvPr id="107" name="CustomShape 13"/>
            <p:cNvSpPr/>
            <p:nvPr/>
          </p:nvSpPr>
          <p:spPr>
            <a:xfrm>
              <a:off x="6215040" y="3642480"/>
              <a:ext cx="1075320" cy="583560"/>
            </a:xfrm>
            <a:prstGeom prst="rect">
              <a:avLst/>
            </a:prstGeom>
            <a:solidFill>
              <a:srgbClr val="d9ead3"/>
            </a:solidFill>
            <a:ln w="9360">
              <a:noFill/>
            </a:ln>
            <a:effectLst>
              <a:outerShdw algn="bl" blurRad="57150" dir="5400000" dist="19080" rotWithShape="0">
                <a:srgbClr val="000000">
                  <a:alpha val="5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GB" sz="1400" spc="-1" strike="noStrike">
                  <a:solidFill>
                    <a:srgbClr val="000000"/>
                  </a:solidFill>
                  <a:latin typeface="Arial"/>
                  <a:ea typeface="Arial"/>
                </a:rPr>
                <a:t>Prediction</a:t>
              </a:r>
              <a:endParaRPr b="0" lang="pt-BR" sz="1400" spc="-1" strike="noStrike">
                <a:latin typeface="Arial"/>
              </a:endParaRPr>
            </a:p>
          </p:txBody>
        </p:sp>
      </p:grpSp>
      <p:grpSp>
        <p:nvGrpSpPr>
          <p:cNvPr id="108" name="Group 14"/>
          <p:cNvGrpSpPr/>
          <p:nvPr/>
        </p:nvGrpSpPr>
        <p:grpSpPr>
          <a:xfrm>
            <a:off x="8845920" y="3642480"/>
            <a:ext cx="2377800" cy="583560"/>
            <a:chOff x="8845920" y="3642480"/>
            <a:chExt cx="2377800" cy="583560"/>
          </a:xfrm>
        </p:grpSpPr>
        <p:sp>
          <p:nvSpPr>
            <p:cNvPr id="109" name="CustomShape 15"/>
            <p:cNvSpPr/>
            <p:nvPr/>
          </p:nvSpPr>
          <p:spPr>
            <a:xfrm>
              <a:off x="8845920" y="3642480"/>
              <a:ext cx="891720" cy="583560"/>
            </a:xfrm>
            <a:prstGeom prst="rect">
              <a:avLst/>
            </a:prstGeom>
            <a:solidFill>
              <a:srgbClr val="d9d2e9"/>
            </a:solidFill>
            <a:ln w="9360">
              <a:noFill/>
            </a:ln>
            <a:effectLst>
              <a:outerShdw algn="bl" blurRad="57150" dir="5400000" dist="19080" rotWithShape="0">
                <a:srgbClr val="000000">
                  <a:alpha val="5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GB" sz="1200" spc="-1" strike="noStrike">
                  <a:solidFill>
                    <a:srgbClr val="000000"/>
                  </a:solidFill>
                  <a:latin typeface="Arial"/>
                  <a:ea typeface="Arial"/>
                </a:rPr>
                <a:t>Labelling</a:t>
              </a:r>
              <a:endParaRPr b="0" lang="pt-BR" sz="1200" spc="-1" strike="noStrike">
                <a:latin typeface="Arial"/>
              </a:endParaRPr>
            </a:p>
          </p:txBody>
        </p:sp>
        <p:sp>
          <p:nvSpPr>
            <p:cNvPr id="110" name="CustomShape 16"/>
            <p:cNvSpPr/>
            <p:nvPr/>
          </p:nvSpPr>
          <p:spPr>
            <a:xfrm>
              <a:off x="10104840" y="3642480"/>
              <a:ext cx="1118880" cy="583560"/>
            </a:xfrm>
            <a:prstGeom prst="rect">
              <a:avLst/>
            </a:prstGeom>
            <a:solidFill>
              <a:srgbClr val="d9d2e9"/>
            </a:solidFill>
            <a:ln w="9360">
              <a:noFill/>
            </a:ln>
            <a:effectLst>
              <a:outerShdw algn="bl" blurRad="57150" dir="5400000" dist="19080" rotWithShape="0">
                <a:srgbClr val="000000">
                  <a:alpha val="50000"/>
                </a:srgbClr>
              </a:outerShdw>
            </a:effectLst>
          </p:spPr>
          <p:style>
            <a:lnRef idx="0"/>
            <a:fillRef idx="0"/>
            <a:effectRef idx="0"/>
            <a:fontRef idx="minor"/>
          </p:style>
          <p:txBody>
            <a:bodyPr tIns="91440" bIns="91440" anchor="ctr">
              <a:noAutofit/>
            </a:bodyPr>
            <a:p>
              <a:pPr algn="ctr">
                <a:lnSpc>
                  <a:spcPct val="100000"/>
                </a:lnSpc>
              </a:pPr>
              <a:r>
                <a:rPr b="0" lang="en-GB" sz="1200" spc="-1" strike="noStrike">
                  <a:solidFill>
                    <a:srgbClr val="000000"/>
                  </a:solidFill>
                  <a:latin typeface="Arial"/>
                  <a:ea typeface="Arial"/>
                </a:rPr>
                <a:t>Presentation</a:t>
              </a:r>
              <a:endParaRPr b="0" lang="pt-BR" sz="1200" spc="-1" strike="noStrike">
                <a:latin typeface="Arial"/>
              </a:endParaRPr>
            </a:p>
          </p:txBody>
        </p:sp>
        <p:sp>
          <p:nvSpPr>
            <p:cNvPr id="111" name="CustomShape 17"/>
            <p:cNvSpPr/>
            <p:nvPr/>
          </p:nvSpPr>
          <p:spPr>
            <a:xfrm>
              <a:off x="9746640" y="3960000"/>
              <a:ext cx="358200" cy="360"/>
            </a:xfrm>
            <a:custGeom>
              <a:avLst/>
              <a:gdLst/>
              <a:ahLst/>
              <a:rect l="l" t="t" r="r" b="b"/>
              <a:pathLst>
                <a:path w="21600" h="21600">
                  <a:moveTo>
                    <a:pt x="0" y="0"/>
                  </a:moveTo>
                  <a:lnTo>
                    <a:pt x="21600" y="21600"/>
                  </a:lnTo>
                </a:path>
              </a:pathLst>
            </a:custGeom>
            <a:noFill/>
            <a:ln w="9360">
              <a:solidFill>
                <a:schemeClr val="dk2"/>
              </a:solidFill>
              <a:round/>
              <a:tailEnd len="med" type="triangle" w="med"/>
            </a:ln>
          </p:spPr>
          <p:style>
            <a:lnRef idx="0"/>
            <a:fillRef idx="0"/>
            <a:effectRef idx="0"/>
            <a:fontRef idx="minor"/>
          </p:style>
        </p:sp>
      </p:grpSp>
      <p:sp>
        <p:nvSpPr>
          <p:cNvPr id="112" name="CustomShape 18"/>
          <p:cNvSpPr/>
          <p:nvPr/>
        </p:nvSpPr>
        <p:spPr>
          <a:xfrm>
            <a:off x="69480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GB" sz="4000" spc="-1" strike="noStrike">
                <a:solidFill>
                  <a:srgbClr val="4472c4"/>
                </a:solidFill>
                <a:latin typeface="Arial"/>
                <a:ea typeface="Calibri"/>
              </a:rPr>
              <a:t>Project Diagram Connection</a:t>
            </a:r>
            <a:endParaRPr b="0" lang="pt-BR" sz="4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14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OpenCV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115" name="CustomShape 2"/>
          <p:cNvSpPr/>
          <p:nvPr/>
        </p:nvSpPr>
        <p:spPr>
          <a:xfrm>
            <a:off x="720000" y="16200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>
            <a:normAutofit/>
          </a:bodyPr>
          <a:p>
            <a:pPr marL="457200" indent="-406080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Automatically detect and predict patients with Parkinson disease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OpenCV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Calibri"/>
                <a:ea typeface="Calibri"/>
              </a:rPr>
              <a:t>HOG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Random Forest</a:t>
            </a:r>
            <a:endParaRPr b="0" lang="pt-BR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17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HOG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118" name="CustomShape 2"/>
          <p:cNvSpPr/>
          <p:nvPr/>
        </p:nvSpPr>
        <p:spPr>
          <a:xfrm>
            <a:off x="720000" y="16200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>
            <a:normAutofit/>
          </a:bodyPr>
          <a:p>
            <a:pPr marL="457200" indent="-406080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Automatically detect and predict patients with Parkinson disease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Ajuste tamanho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Trata nao sei o quer</a:t>
            </a:r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Remove background</a:t>
            </a:r>
            <a:endParaRPr b="0" lang="pt-BR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20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Random Forest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121" name="CustomShape 2"/>
          <p:cNvSpPr/>
          <p:nvPr/>
        </p:nvSpPr>
        <p:spPr>
          <a:xfrm>
            <a:off x="720000" y="16200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>
            <a:normAutofit/>
          </a:bodyPr>
          <a:p>
            <a:pPr marL="457200" algn="just">
              <a:lnSpc>
                <a:spcPct val="90000"/>
              </a:lnSpc>
              <a:spcBef>
                <a:spcPts val="1001"/>
              </a:spcBef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Random forests é um algorítimo de aprendizado supervisionado que pode ser utilizado tanto para classificação quando regressão. O algorítimo cria uma árvore de decisão selecionando aleatoricamente amostras de informação e selecionando a melhor solução pela média dos votos.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br/>
            <a:endParaRPr b="0" lang="pt-BR" sz="2000" spc="-1" strike="noStrike">
              <a:latin typeface="Arial"/>
            </a:endParaRPr>
          </a:p>
          <a:p>
            <a:pPr marL="457200" indent="-4060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2000" spc="-1" strike="noStrike">
                <a:solidFill>
                  <a:srgbClr val="000000"/>
                </a:solidFill>
                <a:latin typeface="Arial"/>
                <a:ea typeface="Calibri"/>
              </a:rPr>
              <a:t>Métricas</a:t>
            </a:r>
            <a:endParaRPr b="0" lang="pt-BR" sz="2000" spc="-1" strike="noStrike">
              <a:latin typeface="Arial"/>
            </a:endParaRPr>
          </a:p>
          <a:p>
            <a:pPr>
              <a:lnSpc>
                <a:spcPct val="90000"/>
              </a:lnSpc>
              <a:spcBef>
                <a:spcPts val="499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	</a:t>
            </a:r>
            <a:endParaRPr b="0" lang="pt-BR" sz="1600" spc="-1" strike="noStrike">
              <a:latin typeface="Arial"/>
            </a:endParaRPr>
          </a:p>
          <a:p>
            <a:pPr lvl="1" marL="914400" indent="-3805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Acurácia - demonstra a proporção de uma predição correta da uma condição</a:t>
            </a:r>
            <a:endParaRPr b="0" lang="pt-BR" sz="1600" spc="-1" strike="noStrike">
              <a:latin typeface="Arial"/>
            </a:endParaRPr>
          </a:p>
          <a:p>
            <a:pPr lvl="1" marL="914400" indent="-3805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Especificidade - mostra se um indivíduo saudável foi corretamente classificado como sem doença</a:t>
            </a:r>
            <a:endParaRPr b="0" lang="pt-BR" sz="1600" spc="-1" strike="noStrike">
              <a:latin typeface="Arial"/>
            </a:endParaRPr>
          </a:p>
          <a:p>
            <a:pPr lvl="1" marL="914400" indent="-38052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Sensibilidade - avalia quão bom o teste é para detectar uma doença positiva</a:t>
            </a:r>
            <a:endParaRPr b="0" lang="pt-BR" sz="16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Shape 1"/>
          <p:cNvSpPr txBox="1"/>
          <p:nvPr/>
        </p:nvSpPr>
        <p:spPr>
          <a:xfrm>
            <a:off x="0" y="0"/>
            <a:ext cx="12191760" cy="6857640"/>
          </a:xfrm>
          <a:prstGeom prst="rect">
            <a:avLst/>
          </a:prstGeom>
          <a:blipFill rotWithShape="0">
            <a:blip r:embed="rId1"/>
            <a:stretch>
              <a:fillRect/>
            </a:stretch>
          </a:blipFill>
          <a:ln>
            <a:noFill/>
          </a:ln>
        </p:spPr>
        <p:txBody>
          <a:bodyPr lIns="90000" rIns="90000" tIns="45000" bIns="45000" anchorCtr="1">
            <a:noAutofit/>
          </a:bodyPr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  <a:p>
            <a:pPr algn="ctr"/>
            <a:endParaRPr b="0" lang="pt-BR" sz="1800" spc="-1" strike="noStrike">
              <a:latin typeface="Arial"/>
            </a:endParaRPr>
          </a:p>
        </p:txBody>
      </p:sp>
      <p:sp>
        <p:nvSpPr>
          <p:cNvPr id="123" name="CustomShape 2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Random Forest</a:t>
            </a:r>
            <a:endParaRPr b="0" lang="pt-BR" sz="4000" spc="-1" strike="noStrike">
              <a:latin typeface="Arial"/>
            </a:endParaRPr>
          </a:p>
        </p:txBody>
      </p:sp>
      <p:sp>
        <p:nvSpPr>
          <p:cNvPr id="124" name="CustomShape 3"/>
          <p:cNvSpPr/>
          <p:nvPr/>
        </p:nvSpPr>
        <p:spPr>
          <a:xfrm>
            <a:off x="720000" y="1620000"/>
            <a:ext cx="10799640" cy="395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</p:sp>
      <p:pic>
        <p:nvPicPr>
          <p:cNvPr id="125" name="" descr=""/>
          <p:cNvPicPr/>
          <p:nvPr/>
        </p:nvPicPr>
        <p:blipFill>
          <a:blip r:embed="rId2"/>
          <a:stretch/>
        </p:blipFill>
        <p:spPr>
          <a:xfrm>
            <a:off x="6264000" y="2448000"/>
            <a:ext cx="3696480" cy="2743920"/>
          </a:xfrm>
          <a:prstGeom prst="rect">
            <a:avLst/>
          </a:prstGeom>
          <a:ln>
            <a:noFill/>
          </a:ln>
        </p:spPr>
      </p:pic>
      <p:sp>
        <p:nvSpPr>
          <p:cNvPr id="126" name="TextShape 4"/>
          <p:cNvSpPr txBox="1"/>
          <p:nvPr/>
        </p:nvSpPr>
        <p:spPr>
          <a:xfrm>
            <a:off x="1242000" y="2057760"/>
            <a:ext cx="4853520" cy="381132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400" spc="-1" strike="noStrike">
              <a:solidFill>
                <a:srgbClr val="000000"/>
              </a:solidFill>
              <a:latin typeface="Arial"/>
            </a:endParaRPr>
          </a:p>
          <a:p>
            <a:pPr marL="228600">
              <a:lnSpc>
                <a:spcPct val="90000"/>
              </a:lnSpc>
              <a:spcBef>
                <a:spcPts val="1001"/>
              </a:spcBef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Colocar algum conteúdo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Line 5"/>
          <p:cNvSpPr/>
          <p:nvPr/>
        </p:nvSpPr>
        <p:spPr>
          <a:xfrm>
            <a:off x="5016600" y="2075040"/>
            <a:ext cx="12600" cy="3794040"/>
          </a:xfrm>
          <a:prstGeom prst="line">
            <a:avLst/>
          </a:prstGeom>
          <a:ln w="57240">
            <a:solidFill>
              <a:schemeClr val="accent5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TextShape 1"/>
          <p:cNvSpPr txBox="1"/>
          <p:nvPr/>
        </p:nvSpPr>
        <p:spPr>
          <a:xfrm>
            <a:off x="1242000" y="2057400"/>
            <a:ext cx="4853520" cy="3811320"/>
          </a:xfrm>
          <a:prstGeom prst="rect">
            <a:avLst/>
          </a:prstGeom>
          <a:noFill/>
          <a:ln>
            <a:noFill/>
          </a:ln>
        </p:spPr>
        <p:txBody>
          <a:bodyPr>
            <a:normAutofit/>
          </a:bodyPr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r>
              <a:rPr b="0" lang="en-GB" sz="1800" spc="-1" strike="noStrike">
                <a:solidFill>
                  <a:srgbClr val="000000"/>
                </a:solidFill>
                <a:latin typeface="Arial"/>
                <a:ea typeface="Calibri"/>
              </a:rPr>
              <a:t>Composed by 204 images</a:t>
            </a: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800" spc="-1" strike="noStrike">
              <a:solidFill>
                <a:srgbClr val="000000"/>
              </a:solidFill>
              <a:latin typeface="Arial"/>
            </a:endParaRPr>
          </a:p>
          <a:p>
            <a:pPr marL="228600">
              <a:lnSpc>
                <a:spcPct val="90000"/>
              </a:lnSpc>
              <a:spcBef>
                <a:spcPts val="1001"/>
              </a:spcBef>
            </a:pPr>
            <a:r>
              <a:rPr b="1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Spiral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: 102 images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514440" indent="-2854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72 training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514440" indent="-2854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30 testing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2860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228600">
              <a:lnSpc>
                <a:spcPct val="90000"/>
              </a:lnSpc>
              <a:spcBef>
                <a:spcPts val="1001"/>
              </a:spcBef>
            </a:pPr>
            <a:r>
              <a:rPr b="1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Wave</a:t>
            </a: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: 102 images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514440" indent="-2854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72 training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514440" indent="-28548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en-GB" sz="1600" spc="-1" strike="noStrike">
                <a:solidFill>
                  <a:srgbClr val="000000"/>
                </a:solidFill>
                <a:latin typeface="Arial"/>
                <a:ea typeface="Calibri"/>
              </a:rPr>
              <a:t>30 testing</a:t>
            </a: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  <a:p>
            <a:pPr marL="457200" indent="-228240">
              <a:lnSpc>
                <a:spcPct val="90000"/>
              </a:lnSpc>
              <a:spcBef>
                <a:spcPts val="1001"/>
              </a:spcBef>
            </a:pPr>
            <a:endParaRPr b="0" lang="pt-BR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CustomShape 2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Dataset</a:t>
            </a:r>
            <a:endParaRPr b="0" lang="pt-BR" sz="4000" spc="-1" strike="noStrike">
              <a:latin typeface="Arial"/>
            </a:endParaRPr>
          </a:p>
        </p:txBody>
      </p:sp>
      <p:pic>
        <p:nvPicPr>
          <p:cNvPr id="130" name="Picture 3" descr=""/>
          <p:cNvPicPr/>
          <p:nvPr/>
        </p:nvPicPr>
        <p:blipFill>
          <a:blip r:embed="rId1"/>
          <a:stretch/>
        </p:blipFill>
        <p:spPr>
          <a:xfrm>
            <a:off x="5435640" y="2163240"/>
            <a:ext cx="6067080" cy="3599640"/>
          </a:xfrm>
          <a:prstGeom prst="rect">
            <a:avLst/>
          </a:prstGeom>
          <a:ln>
            <a:noFill/>
          </a:ln>
        </p:spPr>
      </p:pic>
      <p:sp>
        <p:nvSpPr>
          <p:cNvPr id="131" name="Line 3"/>
          <p:cNvSpPr/>
          <p:nvPr/>
        </p:nvSpPr>
        <p:spPr>
          <a:xfrm>
            <a:off x="5016240" y="2074680"/>
            <a:ext cx="12600" cy="3794040"/>
          </a:xfrm>
          <a:prstGeom prst="line">
            <a:avLst/>
          </a:prstGeom>
          <a:ln w="57240">
            <a:solidFill>
              <a:schemeClr val="accent5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</p:sp>
      <p:sp>
        <p:nvSpPr>
          <p:cNvPr id="132" name="CustomShape 4"/>
          <p:cNvSpPr/>
          <p:nvPr/>
        </p:nvSpPr>
        <p:spPr>
          <a:xfrm>
            <a:off x="8656560" y="5869080"/>
            <a:ext cx="2825280" cy="242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>
            <a:spAutoFit/>
          </a:bodyPr>
          <a:p>
            <a:pPr>
              <a:lnSpc>
                <a:spcPct val="100000"/>
              </a:lnSpc>
            </a:pPr>
            <a:r>
              <a:rPr b="0" lang="en-GB" sz="1000" spc="-1" strike="noStrike">
                <a:solidFill>
                  <a:srgbClr val="000000"/>
                </a:solidFill>
                <a:latin typeface="Arial"/>
                <a:ea typeface="Arial"/>
              </a:rPr>
              <a:t>Ref:  NIATS of Federal University of </a:t>
            </a:r>
            <a:r>
              <a:rPr b="0" lang="pt-BR" sz="1000" spc="-1" strike="noStrike">
                <a:solidFill>
                  <a:srgbClr val="000000"/>
                </a:solidFill>
                <a:latin typeface="Arial"/>
                <a:ea typeface="Arial"/>
              </a:rPr>
              <a:t>Uberlândia</a:t>
            </a:r>
            <a:endParaRPr b="0" lang="pt-BR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90;p4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34" name="CustomShape 1"/>
          <p:cNvSpPr/>
          <p:nvPr/>
        </p:nvSpPr>
        <p:spPr>
          <a:xfrm>
            <a:off x="695880" y="540000"/>
            <a:ext cx="10799640" cy="71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>
              <a:lnSpc>
                <a:spcPct val="90000"/>
              </a:lnSpc>
            </a:pPr>
            <a:r>
              <a:rPr b="1" lang="en-BR" sz="4000" spc="-1" strike="noStrike">
                <a:solidFill>
                  <a:srgbClr val="4472c4"/>
                </a:solidFill>
                <a:latin typeface="Arial"/>
                <a:ea typeface="Calibri"/>
              </a:rPr>
              <a:t>Drawing Template</a:t>
            </a:r>
            <a:endParaRPr b="0" lang="pt-BR" sz="4000" spc="-1" strike="noStrike">
              <a:latin typeface="Arial"/>
            </a:endParaRPr>
          </a:p>
        </p:txBody>
      </p:sp>
      <p:pic>
        <p:nvPicPr>
          <p:cNvPr id="135" name="Picture 1" descr=""/>
          <p:cNvPicPr/>
          <p:nvPr/>
        </p:nvPicPr>
        <p:blipFill>
          <a:blip r:embed="rId2"/>
          <a:stretch/>
        </p:blipFill>
        <p:spPr>
          <a:xfrm>
            <a:off x="1741320" y="1629000"/>
            <a:ext cx="8709480" cy="3599640"/>
          </a:xfrm>
          <a:prstGeom prst="rect">
            <a:avLst/>
          </a:prstGeom>
          <a:ln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84;p1" descr=""/>
          <p:cNvPicPr/>
          <p:nvPr/>
        </p:nvPicPr>
        <p:blipFill>
          <a:blip r:embed="rId1"/>
          <a:stretch/>
        </p:blipFill>
        <p:spPr>
          <a:xfrm>
            <a:off x="0" y="0"/>
            <a:ext cx="12191760" cy="6857640"/>
          </a:xfrm>
          <a:prstGeom prst="rect">
            <a:avLst/>
          </a:prstGeom>
          <a:ln>
            <a:noFill/>
          </a:ln>
        </p:spPr>
      </p:pic>
      <p:sp>
        <p:nvSpPr>
          <p:cNvPr id="137" name="CustomShape 1"/>
          <p:cNvSpPr/>
          <p:nvPr/>
        </p:nvSpPr>
        <p:spPr>
          <a:xfrm>
            <a:off x="1055880" y="2349000"/>
            <a:ext cx="10079640" cy="1079640"/>
          </a:xfrm>
          <a:prstGeom prst="rect">
            <a:avLst/>
          </a:prstGeom>
          <a:noFill/>
          <a:ln>
            <a:noFill/>
          </a:ln>
        </p:spPr>
        <p:style>
          <a:lnRef idx="0"/>
          <a:fillRef idx="0"/>
          <a:effectRef idx="0"/>
          <a:fontRef idx="minor"/>
        </p:style>
        <p:txBody>
          <a:bodyPr anchor="b">
            <a:normAutofit/>
          </a:bodyPr>
          <a:p>
            <a:pPr algn="ctr">
              <a:lnSpc>
                <a:spcPct val="90000"/>
              </a:lnSpc>
            </a:pPr>
            <a:r>
              <a:rPr b="1" lang="en-BR" sz="6000" spc="-1" strike="noStrike">
                <a:solidFill>
                  <a:srgbClr val="006aaf"/>
                </a:solidFill>
                <a:latin typeface="Arial"/>
                <a:ea typeface="Calibri"/>
              </a:rPr>
              <a:t>FIM</a:t>
            </a:r>
            <a:endParaRPr b="0" lang="pt-BR" sz="6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209</TotalTime>
  <Application>LibreOffice/6.4.3.2$Linux_X86_64 LibreOffice_project/40$Build-2</Application>
  <Words>178</Words>
  <Paragraphs>63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2016-10-18T13:17:06Z</dcterms:created>
  <dc:creator>Lais Aparecida Dias</dc:creator>
  <dc:description/>
  <dc:language>pt-BR</dc:language>
  <cp:lastModifiedBy/>
  <dcterms:modified xsi:type="dcterms:W3CDTF">2020-06-20T11:51:13Z</dcterms:modified>
  <cp:revision>43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0</vt:bool>
  </property>
  <property fmtid="{D5CDD505-2E9C-101B-9397-08002B2CF9AE}" pid="5" name="LinksUpToDate">
    <vt:bool>0</vt:bool>
  </property>
  <property fmtid="{D5CDD505-2E9C-101B-9397-08002B2CF9AE}" pid="6" name="MMClips">
    <vt:i4>0</vt:i4>
  </property>
  <property fmtid="{D5CDD505-2E9C-101B-9397-08002B2CF9AE}" pid="7" name="Notes">
    <vt:i4>11</vt:i4>
  </property>
  <property fmtid="{D5CDD505-2E9C-101B-9397-08002B2CF9AE}" pid="8" name="PresentationFormat">
    <vt:lpwstr>Widescreen</vt:lpwstr>
  </property>
  <property fmtid="{D5CDD505-2E9C-101B-9397-08002B2CF9AE}" pid="9" name="ScaleCrop">
    <vt:bool>0</vt:bool>
  </property>
  <property fmtid="{D5CDD505-2E9C-101B-9397-08002B2CF9AE}" pid="10" name="ShareDoc">
    <vt:bool>0</vt:bool>
  </property>
  <property fmtid="{D5CDD505-2E9C-101B-9397-08002B2CF9AE}" pid="11" name="Slides">
    <vt:i4>11</vt:i4>
  </property>
</Properties>
</file>